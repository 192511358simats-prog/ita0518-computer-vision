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Perceptual match score</c:v>
                </c:pt>
              </c:strCache>
            </c:strRef>
          </c:tx>
          <c:spPr>
            <a:solidFill>
              <a:srgbClr val="2B2B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82-40E4-BDD2-1B9620BC479B}"/>
              </c:ext>
            </c:extLst>
          </c:dPt>
          <c:dPt>
            <c:idx val="1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82-40E4-BDD2-1B9620BC479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C82-40E4-BDD2-1B9620BC479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Average</c:v>
                </c:pt>
                <c:pt idx="1">
                  <c:v>Luminosity</c:v>
                </c:pt>
                <c:pt idx="2">
                  <c:v>Desaturation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94</c:v>
                </c:pt>
                <c:pt idx="2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C82-40E4-BDD2-1B9620BC47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4F4F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4F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 source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90</c:v>
                </c:pt>
                <c:pt idx="1">
                  <c:v>100</c:v>
                </c:pt>
                <c:pt idx="2">
                  <c:v>110</c:v>
                </c:pt>
                <c:pt idx="3">
                  <c:v>120</c:v>
                </c:pt>
                <c:pt idx="4">
                  <c:v>130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40</c:v>
                </c:pt>
                <c:pt idx="2">
                  <c:v>85</c:v>
                </c:pt>
                <c:pt idx="3">
                  <c:v>35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AA-48EB-A502-43D62F84E3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Teal source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90</c:v>
                </c:pt>
                <c:pt idx="1">
                  <c:v>100</c:v>
                </c:pt>
                <c:pt idx="2">
                  <c:v>110</c:v>
                </c:pt>
                <c:pt idx="3">
                  <c:v>120</c:v>
                </c:pt>
                <c:pt idx="4">
                  <c:v>130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32</c:v>
                </c:pt>
                <c:pt idx="2">
                  <c:v>80</c:v>
                </c:pt>
                <c:pt idx="3">
                  <c:v>42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AA-48EB-A502-43D62F84E3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2B2B2B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D9D9D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B2B2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Arial"/>
              </a:rPr>
              <a:t>Classification Accuracy by Task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RGB input</c:v>
                </c:pt>
              </c:strCache>
            </c:strRef>
          </c:tx>
          <c:spPr>
            <a:solidFill>
              <a:srgbClr val="2B2B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Fruit ripeness</c:v>
                </c:pt>
                <c:pt idx="1">
                  <c:v>Traffic sign</c:v>
                </c:pt>
                <c:pt idx="2">
                  <c:v>Skin lesion</c:v>
                </c:pt>
                <c:pt idx="3">
                  <c:v>General object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</c:v>
                </c:pt>
                <c:pt idx="1">
                  <c:v>98</c:v>
                </c:pt>
                <c:pt idx="2">
                  <c:v>91</c:v>
                </c:pt>
                <c:pt idx="3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21-4B8F-AC31-F7CA90FA3F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Grayscale input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Fruit ripeness</c:v>
                </c:pt>
                <c:pt idx="1">
                  <c:v>Traffic sign</c:v>
                </c:pt>
                <c:pt idx="2">
                  <c:v>Skin lesion</c:v>
                </c:pt>
                <c:pt idx="3">
                  <c:v>General object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</c:v>
                </c:pt>
                <c:pt idx="1">
                  <c:v>82</c:v>
                </c:pt>
                <c:pt idx="2">
                  <c:v>79</c:v>
                </c:pt>
                <c:pt idx="3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21-4B8F-AC31-F7CA90FA3F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4F4F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2222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4F4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0594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237744" cy="237744"/>
          </a:xfrm>
          <a:prstGeom prst="rect">
            <a:avLst/>
          </a:prstGeom>
          <a:solidFill>
            <a:srgbClr val="4E4E4E"/>
          </a:solidFill>
          <a:ln/>
        </p:spPr>
      </p:sp>
      <p:sp>
        <p:nvSpPr>
          <p:cNvPr id="3" name="Shape 1"/>
          <p:cNvSpPr/>
          <p:nvPr/>
        </p:nvSpPr>
        <p:spPr>
          <a:xfrm>
            <a:off x="9034272" y="548640"/>
            <a:ext cx="237744" cy="237744"/>
          </a:xfrm>
          <a:prstGeom prst="rect">
            <a:avLst/>
          </a:prstGeom>
          <a:solidFill>
            <a:srgbClr val="424242"/>
          </a:solidFill>
          <a:ln/>
        </p:spPr>
      </p:sp>
      <p:sp>
        <p:nvSpPr>
          <p:cNvPr id="4" name="Shape 2"/>
          <p:cNvSpPr/>
          <p:nvPr/>
        </p:nvSpPr>
        <p:spPr>
          <a:xfrm>
            <a:off x="9290304" y="548640"/>
            <a:ext cx="237744" cy="237744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5" name="Shape 3"/>
          <p:cNvSpPr/>
          <p:nvPr/>
        </p:nvSpPr>
        <p:spPr>
          <a:xfrm>
            <a:off x="9546336" y="548640"/>
            <a:ext cx="237744" cy="237744"/>
          </a:xfrm>
          <a:prstGeom prst="rect">
            <a:avLst/>
          </a:prstGeom>
          <a:solidFill>
            <a:srgbClr val="454545"/>
          </a:solidFill>
          <a:ln/>
        </p:spPr>
      </p:sp>
      <p:sp>
        <p:nvSpPr>
          <p:cNvPr id="6" name="Shape 4"/>
          <p:cNvSpPr/>
          <p:nvPr/>
        </p:nvSpPr>
        <p:spPr>
          <a:xfrm>
            <a:off x="9802368" y="548640"/>
            <a:ext cx="237744" cy="237744"/>
          </a:xfrm>
          <a:prstGeom prst="rect">
            <a:avLst/>
          </a:prstGeom>
          <a:solidFill>
            <a:srgbClr val="353535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548640"/>
            <a:ext cx="237744" cy="237744"/>
          </a:xfrm>
          <a:prstGeom prst="rect">
            <a:avLst/>
          </a:prstGeom>
          <a:solidFill>
            <a:srgbClr val="535353"/>
          </a:solidFill>
          <a:ln/>
        </p:spPr>
      </p:sp>
      <p:sp>
        <p:nvSpPr>
          <p:cNvPr id="8" name="Shape 6"/>
          <p:cNvSpPr/>
          <p:nvPr/>
        </p:nvSpPr>
        <p:spPr>
          <a:xfrm>
            <a:off x="10314432" y="548640"/>
            <a:ext cx="237744" cy="237744"/>
          </a:xfrm>
          <a:prstGeom prst="rect">
            <a:avLst/>
          </a:prstGeom>
          <a:solidFill>
            <a:srgbClr val="515151"/>
          </a:solidFill>
          <a:ln/>
        </p:spPr>
      </p:sp>
      <p:sp>
        <p:nvSpPr>
          <p:cNvPr id="9" name="Shape 7"/>
          <p:cNvSpPr/>
          <p:nvPr/>
        </p:nvSpPr>
        <p:spPr>
          <a:xfrm>
            <a:off x="10570464" y="548640"/>
            <a:ext cx="237744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10826496" y="548640"/>
            <a:ext cx="237744" cy="237744"/>
          </a:xfrm>
          <a:prstGeom prst="rect">
            <a:avLst/>
          </a:prstGeom>
          <a:solidFill>
            <a:srgbClr val="414141"/>
          </a:solidFill>
          <a:ln/>
        </p:spPr>
      </p:sp>
      <p:sp>
        <p:nvSpPr>
          <p:cNvPr id="11" name="Shape 9"/>
          <p:cNvSpPr/>
          <p:nvPr/>
        </p:nvSpPr>
        <p:spPr>
          <a:xfrm>
            <a:off x="11082528" y="548640"/>
            <a:ext cx="237744" cy="237744"/>
          </a:xfrm>
          <a:prstGeom prst="rect">
            <a:avLst/>
          </a:prstGeom>
          <a:solidFill>
            <a:srgbClr val="545454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0" y="804672"/>
            <a:ext cx="237744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9034272" y="804672"/>
            <a:ext cx="237744" cy="237744"/>
          </a:xfrm>
          <a:prstGeom prst="rect">
            <a:avLst/>
          </a:prstGeom>
          <a:solidFill>
            <a:srgbClr val="646464"/>
          </a:solidFill>
          <a:ln/>
        </p:spPr>
      </p:sp>
      <p:sp>
        <p:nvSpPr>
          <p:cNvPr id="14" name="Shape 12"/>
          <p:cNvSpPr/>
          <p:nvPr/>
        </p:nvSpPr>
        <p:spPr>
          <a:xfrm>
            <a:off x="9290304" y="804672"/>
            <a:ext cx="237744" cy="237744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15" name="Shape 13"/>
          <p:cNvSpPr/>
          <p:nvPr/>
        </p:nvSpPr>
        <p:spPr>
          <a:xfrm>
            <a:off x="9546336" y="804672"/>
            <a:ext cx="237744" cy="237744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6" name="Shape 14"/>
          <p:cNvSpPr/>
          <p:nvPr/>
        </p:nvSpPr>
        <p:spPr>
          <a:xfrm>
            <a:off x="9802368" y="804672"/>
            <a:ext cx="237744" cy="237744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0" y="804672"/>
            <a:ext cx="237744" cy="237744"/>
          </a:xfrm>
          <a:prstGeom prst="rect">
            <a:avLst/>
          </a:prstGeom>
          <a:solidFill>
            <a:srgbClr val="373737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14432" y="804672"/>
            <a:ext cx="237744" cy="237744"/>
          </a:xfrm>
          <a:prstGeom prst="rect">
            <a:avLst/>
          </a:prstGeom>
          <a:solidFill>
            <a:srgbClr val="6C6C6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70464" y="804672"/>
            <a:ext cx="237744" cy="237744"/>
          </a:xfrm>
          <a:prstGeom prst="rect">
            <a:avLst/>
          </a:prstGeom>
          <a:solidFill>
            <a:srgbClr val="64646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26496" y="804672"/>
            <a:ext cx="237744" cy="237744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82528" y="804672"/>
            <a:ext cx="237744" cy="23774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2" name="Shape 20"/>
          <p:cNvSpPr/>
          <p:nvPr/>
        </p:nvSpPr>
        <p:spPr>
          <a:xfrm>
            <a:off x="8778240" y="1060704"/>
            <a:ext cx="237744" cy="2377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Shape 21"/>
          <p:cNvSpPr/>
          <p:nvPr/>
        </p:nvSpPr>
        <p:spPr>
          <a:xfrm>
            <a:off x="9034272" y="1060704"/>
            <a:ext cx="237744" cy="237744"/>
          </a:xfrm>
          <a:prstGeom prst="rect">
            <a:avLst/>
          </a:prstGeom>
          <a:solidFill>
            <a:srgbClr val="606060"/>
          </a:solidFill>
          <a:ln/>
        </p:spPr>
      </p:sp>
      <p:sp>
        <p:nvSpPr>
          <p:cNvPr id="24" name="Shape 22"/>
          <p:cNvSpPr/>
          <p:nvPr/>
        </p:nvSpPr>
        <p:spPr>
          <a:xfrm>
            <a:off x="9290304" y="1060704"/>
            <a:ext cx="237744" cy="237744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25" name="Shape 23"/>
          <p:cNvSpPr/>
          <p:nvPr/>
        </p:nvSpPr>
        <p:spPr>
          <a:xfrm>
            <a:off x="9546336" y="1060704"/>
            <a:ext cx="237744" cy="237744"/>
          </a:xfrm>
          <a:prstGeom prst="rect">
            <a:avLst/>
          </a:prstGeom>
          <a:solidFill>
            <a:srgbClr val="393939"/>
          </a:solidFill>
          <a:ln/>
        </p:spPr>
      </p:sp>
      <p:sp>
        <p:nvSpPr>
          <p:cNvPr id="26" name="Shape 24"/>
          <p:cNvSpPr/>
          <p:nvPr/>
        </p:nvSpPr>
        <p:spPr>
          <a:xfrm>
            <a:off x="9802368" y="1060704"/>
            <a:ext cx="237744" cy="237744"/>
          </a:xfrm>
          <a:prstGeom prst="rect">
            <a:avLst/>
          </a:prstGeom>
          <a:solidFill>
            <a:srgbClr val="39393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58400" y="1060704"/>
            <a:ext cx="237744" cy="237744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314432" y="1060704"/>
            <a:ext cx="237744" cy="2377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70464" y="1060704"/>
            <a:ext cx="237744" cy="237744"/>
          </a:xfrm>
          <a:prstGeom prst="rect">
            <a:avLst/>
          </a:prstGeom>
          <a:solidFill>
            <a:srgbClr val="62626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826496" y="1060704"/>
            <a:ext cx="237744" cy="237744"/>
          </a:xfrm>
          <a:prstGeom prst="rect">
            <a:avLst/>
          </a:prstGeom>
          <a:solidFill>
            <a:srgbClr val="6D6D6D"/>
          </a:solidFill>
          <a:ln/>
        </p:spPr>
      </p:sp>
      <p:sp>
        <p:nvSpPr>
          <p:cNvPr id="31" name="Shape 29"/>
          <p:cNvSpPr/>
          <p:nvPr/>
        </p:nvSpPr>
        <p:spPr>
          <a:xfrm>
            <a:off x="11082528" y="1060704"/>
            <a:ext cx="237744" cy="237744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32" name="Shape 30"/>
          <p:cNvSpPr/>
          <p:nvPr/>
        </p:nvSpPr>
        <p:spPr>
          <a:xfrm>
            <a:off x="8778240" y="1316736"/>
            <a:ext cx="237744" cy="237744"/>
          </a:xfrm>
          <a:prstGeom prst="rect">
            <a:avLst/>
          </a:prstGeom>
          <a:solidFill>
            <a:srgbClr val="525252"/>
          </a:solidFill>
          <a:ln/>
        </p:spPr>
      </p:sp>
      <p:sp>
        <p:nvSpPr>
          <p:cNvPr id="33" name="Shape 31"/>
          <p:cNvSpPr/>
          <p:nvPr/>
        </p:nvSpPr>
        <p:spPr>
          <a:xfrm>
            <a:off x="9034272" y="1316736"/>
            <a:ext cx="237744" cy="2377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9290304" y="1316736"/>
            <a:ext cx="237744" cy="237744"/>
          </a:xfrm>
          <a:prstGeom prst="rect">
            <a:avLst/>
          </a:prstGeom>
          <a:solidFill>
            <a:srgbClr val="626262"/>
          </a:solidFill>
          <a:ln/>
        </p:spPr>
      </p:sp>
      <p:sp>
        <p:nvSpPr>
          <p:cNvPr id="35" name="Shape 33"/>
          <p:cNvSpPr/>
          <p:nvPr/>
        </p:nvSpPr>
        <p:spPr>
          <a:xfrm>
            <a:off x="9546336" y="1316736"/>
            <a:ext cx="237744" cy="237744"/>
          </a:xfrm>
          <a:prstGeom prst="rect">
            <a:avLst/>
          </a:prstGeom>
          <a:solidFill>
            <a:srgbClr val="525252"/>
          </a:solidFill>
          <a:ln/>
        </p:spPr>
      </p:sp>
      <p:sp>
        <p:nvSpPr>
          <p:cNvPr id="36" name="Shape 34"/>
          <p:cNvSpPr/>
          <p:nvPr/>
        </p:nvSpPr>
        <p:spPr>
          <a:xfrm>
            <a:off x="9802368" y="1316736"/>
            <a:ext cx="237744" cy="237744"/>
          </a:xfrm>
          <a:prstGeom prst="rect">
            <a:avLst/>
          </a:prstGeom>
          <a:solidFill>
            <a:srgbClr val="3C3C3C"/>
          </a:solidFill>
          <a:ln/>
        </p:spPr>
      </p:sp>
      <p:sp>
        <p:nvSpPr>
          <p:cNvPr id="37" name="Shape 35"/>
          <p:cNvSpPr/>
          <p:nvPr/>
        </p:nvSpPr>
        <p:spPr>
          <a:xfrm>
            <a:off x="10058400" y="1316736"/>
            <a:ext cx="237744" cy="237744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38" name="Shape 36"/>
          <p:cNvSpPr/>
          <p:nvPr/>
        </p:nvSpPr>
        <p:spPr>
          <a:xfrm>
            <a:off x="10314432" y="1316736"/>
            <a:ext cx="237744" cy="237744"/>
          </a:xfrm>
          <a:prstGeom prst="rect">
            <a:avLst/>
          </a:prstGeom>
          <a:solidFill>
            <a:srgbClr val="3C3C3C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70464" y="1316736"/>
            <a:ext cx="237744" cy="237744"/>
          </a:xfrm>
          <a:prstGeom prst="rect">
            <a:avLst/>
          </a:prstGeom>
          <a:solidFill>
            <a:srgbClr val="464646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26496" y="1316736"/>
            <a:ext cx="237744" cy="237744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41" name="Shape 39"/>
          <p:cNvSpPr/>
          <p:nvPr/>
        </p:nvSpPr>
        <p:spPr>
          <a:xfrm>
            <a:off x="11082528" y="1316736"/>
            <a:ext cx="237744" cy="237744"/>
          </a:xfrm>
          <a:prstGeom prst="rect">
            <a:avLst/>
          </a:prstGeom>
          <a:solidFill>
            <a:srgbClr val="393939"/>
          </a:solidFill>
          <a:ln/>
        </p:spPr>
      </p:sp>
      <p:sp>
        <p:nvSpPr>
          <p:cNvPr id="42" name="Shape 40"/>
          <p:cNvSpPr/>
          <p:nvPr/>
        </p:nvSpPr>
        <p:spPr>
          <a:xfrm>
            <a:off x="8778240" y="1572768"/>
            <a:ext cx="237744" cy="237744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43" name="Shape 41"/>
          <p:cNvSpPr/>
          <p:nvPr/>
        </p:nvSpPr>
        <p:spPr>
          <a:xfrm>
            <a:off x="9034272" y="1572768"/>
            <a:ext cx="237744" cy="237744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44" name="Shape 42"/>
          <p:cNvSpPr/>
          <p:nvPr/>
        </p:nvSpPr>
        <p:spPr>
          <a:xfrm>
            <a:off x="9290304" y="1572768"/>
            <a:ext cx="237744" cy="237744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45" name="Shape 43"/>
          <p:cNvSpPr/>
          <p:nvPr/>
        </p:nvSpPr>
        <p:spPr>
          <a:xfrm>
            <a:off x="9546336" y="1572768"/>
            <a:ext cx="237744" cy="2377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6" name="Shape 44"/>
          <p:cNvSpPr/>
          <p:nvPr/>
        </p:nvSpPr>
        <p:spPr>
          <a:xfrm>
            <a:off x="9802368" y="1572768"/>
            <a:ext cx="237744" cy="237744"/>
          </a:xfrm>
          <a:prstGeom prst="rect">
            <a:avLst/>
          </a:prstGeom>
          <a:solidFill>
            <a:srgbClr val="5B5B5B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58400" y="1572768"/>
            <a:ext cx="237744" cy="237744"/>
          </a:xfrm>
          <a:prstGeom prst="rect">
            <a:avLst/>
          </a:prstGeom>
          <a:solidFill>
            <a:srgbClr val="303030"/>
          </a:solidFill>
          <a:ln/>
        </p:spPr>
      </p:sp>
      <p:sp>
        <p:nvSpPr>
          <p:cNvPr id="48" name="Shape 46"/>
          <p:cNvSpPr/>
          <p:nvPr/>
        </p:nvSpPr>
        <p:spPr>
          <a:xfrm>
            <a:off x="10314432" y="1572768"/>
            <a:ext cx="237744" cy="237744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49" name="Shape 47"/>
          <p:cNvSpPr/>
          <p:nvPr/>
        </p:nvSpPr>
        <p:spPr>
          <a:xfrm>
            <a:off x="10570464" y="1572768"/>
            <a:ext cx="237744" cy="237744"/>
          </a:xfrm>
          <a:prstGeom prst="rect">
            <a:avLst/>
          </a:prstGeom>
          <a:solidFill>
            <a:srgbClr val="585858"/>
          </a:solidFill>
          <a:ln/>
        </p:spPr>
      </p:sp>
      <p:sp>
        <p:nvSpPr>
          <p:cNvPr id="50" name="Shape 48"/>
          <p:cNvSpPr/>
          <p:nvPr/>
        </p:nvSpPr>
        <p:spPr>
          <a:xfrm>
            <a:off x="10826496" y="1572768"/>
            <a:ext cx="237744" cy="237744"/>
          </a:xfrm>
          <a:prstGeom prst="rect">
            <a:avLst/>
          </a:prstGeom>
          <a:solidFill>
            <a:srgbClr val="686868"/>
          </a:solidFill>
          <a:ln/>
        </p:spPr>
      </p:sp>
      <p:sp>
        <p:nvSpPr>
          <p:cNvPr id="51" name="Shape 49"/>
          <p:cNvSpPr/>
          <p:nvPr/>
        </p:nvSpPr>
        <p:spPr>
          <a:xfrm>
            <a:off x="11082528" y="1572768"/>
            <a:ext cx="237744" cy="237744"/>
          </a:xfrm>
          <a:prstGeom prst="rect">
            <a:avLst/>
          </a:prstGeom>
          <a:solidFill>
            <a:srgbClr val="5D5D5D"/>
          </a:solidFill>
          <a:ln/>
        </p:spPr>
      </p:sp>
      <p:sp>
        <p:nvSpPr>
          <p:cNvPr id="52" name="Shape 50"/>
          <p:cNvSpPr/>
          <p:nvPr/>
        </p:nvSpPr>
        <p:spPr>
          <a:xfrm>
            <a:off x="8778240" y="1828800"/>
            <a:ext cx="237744" cy="237744"/>
          </a:xfrm>
          <a:prstGeom prst="rect">
            <a:avLst/>
          </a:prstGeom>
          <a:solidFill>
            <a:srgbClr val="575757"/>
          </a:solidFill>
          <a:ln/>
        </p:spPr>
      </p:sp>
      <p:sp>
        <p:nvSpPr>
          <p:cNvPr id="53" name="Shape 51"/>
          <p:cNvSpPr/>
          <p:nvPr/>
        </p:nvSpPr>
        <p:spPr>
          <a:xfrm>
            <a:off x="9034272" y="1828800"/>
            <a:ext cx="237744" cy="237744"/>
          </a:xfrm>
          <a:prstGeom prst="rect">
            <a:avLst/>
          </a:prstGeom>
          <a:solidFill>
            <a:srgbClr val="696969"/>
          </a:solidFill>
          <a:ln/>
        </p:spPr>
      </p:sp>
      <p:sp>
        <p:nvSpPr>
          <p:cNvPr id="54" name="Shape 52"/>
          <p:cNvSpPr/>
          <p:nvPr/>
        </p:nvSpPr>
        <p:spPr>
          <a:xfrm>
            <a:off x="9290304" y="1828800"/>
            <a:ext cx="237744" cy="237744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55" name="Shape 53"/>
          <p:cNvSpPr/>
          <p:nvPr/>
        </p:nvSpPr>
        <p:spPr>
          <a:xfrm>
            <a:off x="9546336" y="1828800"/>
            <a:ext cx="237744" cy="23774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6" name="Shape 54"/>
          <p:cNvSpPr/>
          <p:nvPr/>
        </p:nvSpPr>
        <p:spPr>
          <a:xfrm>
            <a:off x="9802368" y="1828800"/>
            <a:ext cx="237744" cy="2377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7" name="Shape 55"/>
          <p:cNvSpPr/>
          <p:nvPr/>
        </p:nvSpPr>
        <p:spPr>
          <a:xfrm>
            <a:off x="10058400" y="1828800"/>
            <a:ext cx="237744" cy="237744"/>
          </a:xfrm>
          <a:prstGeom prst="rect">
            <a:avLst/>
          </a:prstGeom>
          <a:solidFill>
            <a:srgbClr val="3C3C3C"/>
          </a:solidFill>
          <a:ln/>
        </p:spPr>
      </p:sp>
      <p:sp>
        <p:nvSpPr>
          <p:cNvPr id="58" name="Shape 56"/>
          <p:cNvSpPr/>
          <p:nvPr/>
        </p:nvSpPr>
        <p:spPr>
          <a:xfrm>
            <a:off x="10314432" y="1828800"/>
            <a:ext cx="237744" cy="237744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59" name="Shape 57"/>
          <p:cNvSpPr/>
          <p:nvPr/>
        </p:nvSpPr>
        <p:spPr>
          <a:xfrm>
            <a:off x="10570464" y="1828800"/>
            <a:ext cx="237744" cy="237744"/>
          </a:xfrm>
          <a:prstGeom prst="rect">
            <a:avLst/>
          </a:prstGeom>
          <a:solidFill>
            <a:srgbClr val="515151"/>
          </a:solidFill>
          <a:ln/>
        </p:spPr>
      </p:sp>
      <p:sp>
        <p:nvSpPr>
          <p:cNvPr id="60" name="Shape 58"/>
          <p:cNvSpPr/>
          <p:nvPr/>
        </p:nvSpPr>
        <p:spPr>
          <a:xfrm>
            <a:off x="10826496" y="1828800"/>
            <a:ext cx="237744" cy="237744"/>
          </a:xfrm>
          <a:prstGeom prst="rect">
            <a:avLst/>
          </a:prstGeom>
          <a:solidFill>
            <a:srgbClr val="626262"/>
          </a:solidFill>
          <a:ln/>
        </p:spPr>
      </p:sp>
      <p:sp>
        <p:nvSpPr>
          <p:cNvPr id="61" name="Shape 59"/>
          <p:cNvSpPr/>
          <p:nvPr/>
        </p:nvSpPr>
        <p:spPr>
          <a:xfrm>
            <a:off x="11082528" y="1828800"/>
            <a:ext cx="237744" cy="237744"/>
          </a:xfrm>
          <a:prstGeom prst="rect">
            <a:avLst/>
          </a:prstGeom>
          <a:solidFill>
            <a:srgbClr val="353535"/>
          </a:solidFill>
          <a:ln/>
        </p:spPr>
      </p:sp>
      <p:sp>
        <p:nvSpPr>
          <p:cNvPr id="62" name="Shape 60"/>
          <p:cNvSpPr/>
          <p:nvPr/>
        </p:nvSpPr>
        <p:spPr>
          <a:xfrm>
            <a:off x="8778240" y="2084832"/>
            <a:ext cx="237744" cy="237744"/>
          </a:xfrm>
          <a:prstGeom prst="rect">
            <a:avLst/>
          </a:prstGeom>
          <a:solidFill>
            <a:srgbClr val="4B4B4B"/>
          </a:solidFill>
          <a:ln/>
        </p:spPr>
      </p:sp>
      <p:sp>
        <p:nvSpPr>
          <p:cNvPr id="63" name="Shape 61"/>
          <p:cNvSpPr/>
          <p:nvPr/>
        </p:nvSpPr>
        <p:spPr>
          <a:xfrm>
            <a:off x="9034272" y="2084832"/>
            <a:ext cx="237744" cy="23774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4" name="Shape 62"/>
          <p:cNvSpPr/>
          <p:nvPr/>
        </p:nvSpPr>
        <p:spPr>
          <a:xfrm>
            <a:off x="9290304" y="2084832"/>
            <a:ext cx="237744" cy="237744"/>
          </a:xfrm>
          <a:prstGeom prst="rect">
            <a:avLst/>
          </a:prstGeom>
          <a:solidFill>
            <a:srgbClr val="515151"/>
          </a:solidFill>
          <a:ln/>
        </p:spPr>
      </p:sp>
      <p:sp>
        <p:nvSpPr>
          <p:cNvPr id="65" name="Shape 63"/>
          <p:cNvSpPr/>
          <p:nvPr/>
        </p:nvSpPr>
        <p:spPr>
          <a:xfrm>
            <a:off x="9546336" y="2084832"/>
            <a:ext cx="237744" cy="237744"/>
          </a:xfrm>
          <a:prstGeom prst="rect">
            <a:avLst/>
          </a:prstGeom>
          <a:solidFill>
            <a:srgbClr val="505050"/>
          </a:solidFill>
          <a:ln/>
        </p:spPr>
      </p:sp>
      <p:sp>
        <p:nvSpPr>
          <p:cNvPr id="66" name="Shape 64"/>
          <p:cNvSpPr/>
          <p:nvPr/>
        </p:nvSpPr>
        <p:spPr>
          <a:xfrm>
            <a:off x="9802368" y="2084832"/>
            <a:ext cx="237744" cy="237744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67" name="Shape 65"/>
          <p:cNvSpPr/>
          <p:nvPr/>
        </p:nvSpPr>
        <p:spPr>
          <a:xfrm>
            <a:off x="10058400" y="2084832"/>
            <a:ext cx="237744" cy="237744"/>
          </a:xfrm>
          <a:prstGeom prst="rect">
            <a:avLst/>
          </a:prstGeom>
          <a:solidFill>
            <a:srgbClr val="535353"/>
          </a:solidFill>
          <a:ln/>
        </p:spPr>
      </p:sp>
      <p:sp>
        <p:nvSpPr>
          <p:cNvPr id="68" name="Shape 66"/>
          <p:cNvSpPr/>
          <p:nvPr/>
        </p:nvSpPr>
        <p:spPr>
          <a:xfrm>
            <a:off x="10314432" y="2084832"/>
            <a:ext cx="237744" cy="2377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9" name="Shape 67"/>
          <p:cNvSpPr/>
          <p:nvPr/>
        </p:nvSpPr>
        <p:spPr>
          <a:xfrm>
            <a:off x="10570464" y="2084832"/>
            <a:ext cx="237744" cy="237744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70" name="Shape 68"/>
          <p:cNvSpPr/>
          <p:nvPr/>
        </p:nvSpPr>
        <p:spPr>
          <a:xfrm>
            <a:off x="10826496" y="2084832"/>
            <a:ext cx="237744" cy="237744"/>
          </a:xfrm>
          <a:prstGeom prst="rect">
            <a:avLst/>
          </a:prstGeom>
          <a:solidFill>
            <a:srgbClr val="535353"/>
          </a:solidFill>
          <a:ln/>
        </p:spPr>
      </p:sp>
      <p:sp>
        <p:nvSpPr>
          <p:cNvPr id="71" name="Shape 69"/>
          <p:cNvSpPr/>
          <p:nvPr/>
        </p:nvSpPr>
        <p:spPr>
          <a:xfrm>
            <a:off x="11082528" y="2084832"/>
            <a:ext cx="237744" cy="237744"/>
          </a:xfrm>
          <a:prstGeom prst="rect">
            <a:avLst/>
          </a:prstGeom>
          <a:solidFill>
            <a:srgbClr val="575757"/>
          </a:solidFill>
          <a:ln/>
        </p:spPr>
      </p:sp>
      <p:sp>
        <p:nvSpPr>
          <p:cNvPr id="72" name="Shape 70"/>
          <p:cNvSpPr/>
          <p:nvPr/>
        </p:nvSpPr>
        <p:spPr>
          <a:xfrm>
            <a:off x="8778240" y="2340864"/>
            <a:ext cx="237744" cy="23774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73" name="Shape 71"/>
          <p:cNvSpPr/>
          <p:nvPr/>
        </p:nvSpPr>
        <p:spPr>
          <a:xfrm>
            <a:off x="9034272" y="2340864"/>
            <a:ext cx="237744" cy="237744"/>
          </a:xfrm>
          <a:prstGeom prst="rect">
            <a:avLst/>
          </a:prstGeom>
          <a:solidFill>
            <a:srgbClr val="696969"/>
          </a:solidFill>
          <a:ln/>
        </p:spPr>
      </p:sp>
      <p:sp>
        <p:nvSpPr>
          <p:cNvPr id="74" name="Shape 72"/>
          <p:cNvSpPr/>
          <p:nvPr/>
        </p:nvSpPr>
        <p:spPr>
          <a:xfrm>
            <a:off x="9290304" y="2340864"/>
            <a:ext cx="237744" cy="237744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5" name="Shape 73"/>
          <p:cNvSpPr/>
          <p:nvPr/>
        </p:nvSpPr>
        <p:spPr>
          <a:xfrm>
            <a:off x="9546336" y="2340864"/>
            <a:ext cx="237744" cy="237744"/>
          </a:xfrm>
          <a:prstGeom prst="rect">
            <a:avLst/>
          </a:prstGeom>
          <a:solidFill>
            <a:srgbClr val="292929"/>
          </a:solidFill>
          <a:ln/>
        </p:spPr>
      </p:sp>
      <p:sp>
        <p:nvSpPr>
          <p:cNvPr id="76" name="Shape 74"/>
          <p:cNvSpPr/>
          <p:nvPr/>
        </p:nvSpPr>
        <p:spPr>
          <a:xfrm>
            <a:off x="9802368" y="2340864"/>
            <a:ext cx="237744" cy="237744"/>
          </a:xfrm>
          <a:prstGeom prst="rect">
            <a:avLst/>
          </a:prstGeom>
          <a:solidFill>
            <a:srgbClr val="606060"/>
          </a:solidFill>
          <a:ln/>
        </p:spPr>
      </p:sp>
      <p:sp>
        <p:nvSpPr>
          <p:cNvPr id="77" name="Shape 75"/>
          <p:cNvSpPr/>
          <p:nvPr/>
        </p:nvSpPr>
        <p:spPr>
          <a:xfrm>
            <a:off x="10058400" y="2340864"/>
            <a:ext cx="237744" cy="237744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78" name="Shape 76"/>
          <p:cNvSpPr/>
          <p:nvPr/>
        </p:nvSpPr>
        <p:spPr>
          <a:xfrm>
            <a:off x="10314432" y="2340864"/>
            <a:ext cx="237744" cy="237744"/>
          </a:xfrm>
          <a:prstGeom prst="rect">
            <a:avLst/>
          </a:prstGeom>
          <a:solidFill>
            <a:srgbClr val="676767"/>
          </a:solidFill>
          <a:ln/>
        </p:spPr>
      </p:sp>
      <p:sp>
        <p:nvSpPr>
          <p:cNvPr id="79" name="Shape 77"/>
          <p:cNvSpPr/>
          <p:nvPr/>
        </p:nvSpPr>
        <p:spPr>
          <a:xfrm>
            <a:off x="10570464" y="2340864"/>
            <a:ext cx="237744" cy="237744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80" name="Shape 78"/>
          <p:cNvSpPr/>
          <p:nvPr/>
        </p:nvSpPr>
        <p:spPr>
          <a:xfrm>
            <a:off x="10826496" y="2340864"/>
            <a:ext cx="237744" cy="2377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81" name="Shape 79"/>
          <p:cNvSpPr/>
          <p:nvPr/>
        </p:nvSpPr>
        <p:spPr>
          <a:xfrm>
            <a:off x="11082528" y="2340864"/>
            <a:ext cx="237744" cy="237744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82" name="Shape 80"/>
          <p:cNvSpPr/>
          <p:nvPr/>
        </p:nvSpPr>
        <p:spPr>
          <a:xfrm>
            <a:off x="8778240" y="2596896"/>
            <a:ext cx="237744" cy="237744"/>
          </a:xfrm>
          <a:prstGeom prst="rect">
            <a:avLst/>
          </a:prstGeom>
          <a:solidFill>
            <a:srgbClr val="525252"/>
          </a:solidFill>
          <a:ln/>
        </p:spPr>
      </p:sp>
      <p:sp>
        <p:nvSpPr>
          <p:cNvPr id="83" name="Shape 81"/>
          <p:cNvSpPr/>
          <p:nvPr/>
        </p:nvSpPr>
        <p:spPr>
          <a:xfrm>
            <a:off x="9034272" y="2596896"/>
            <a:ext cx="237744" cy="237744"/>
          </a:xfrm>
          <a:prstGeom prst="rect">
            <a:avLst/>
          </a:prstGeom>
          <a:solidFill>
            <a:srgbClr val="343434"/>
          </a:solidFill>
          <a:ln/>
        </p:spPr>
      </p:sp>
      <p:sp>
        <p:nvSpPr>
          <p:cNvPr id="84" name="Shape 82"/>
          <p:cNvSpPr/>
          <p:nvPr/>
        </p:nvSpPr>
        <p:spPr>
          <a:xfrm>
            <a:off x="9290304" y="2596896"/>
            <a:ext cx="237744" cy="237744"/>
          </a:xfrm>
          <a:prstGeom prst="rect">
            <a:avLst/>
          </a:prstGeom>
          <a:solidFill>
            <a:srgbClr val="585858"/>
          </a:solidFill>
          <a:ln/>
        </p:spPr>
      </p:sp>
      <p:sp>
        <p:nvSpPr>
          <p:cNvPr id="85" name="Shape 83"/>
          <p:cNvSpPr/>
          <p:nvPr/>
        </p:nvSpPr>
        <p:spPr>
          <a:xfrm>
            <a:off x="9546336" y="2596896"/>
            <a:ext cx="237744" cy="237744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86" name="Shape 84"/>
          <p:cNvSpPr/>
          <p:nvPr/>
        </p:nvSpPr>
        <p:spPr>
          <a:xfrm>
            <a:off x="9802368" y="2596896"/>
            <a:ext cx="237744" cy="23774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87" name="Shape 85"/>
          <p:cNvSpPr/>
          <p:nvPr/>
        </p:nvSpPr>
        <p:spPr>
          <a:xfrm>
            <a:off x="10058400" y="2596896"/>
            <a:ext cx="237744" cy="23774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8" name="Shape 86"/>
          <p:cNvSpPr/>
          <p:nvPr/>
        </p:nvSpPr>
        <p:spPr>
          <a:xfrm>
            <a:off x="10314432" y="2596896"/>
            <a:ext cx="237744" cy="237744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89" name="Shape 87"/>
          <p:cNvSpPr/>
          <p:nvPr/>
        </p:nvSpPr>
        <p:spPr>
          <a:xfrm>
            <a:off x="10570464" y="2596896"/>
            <a:ext cx="237744" cy="23774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90" name="Shape 88"/>
          <p:cNvSpPr/>
          <p:nvPr/>
        </p:nvSpPr>
        <p:spPr>
          <a:xfrm>
            <a:off x="10826496" y="2596896"/>
            <a:ext cx="237744" cy="237744"/>
          </a:xfrm>
          <a:prstGeom prst="rect">
            <a:avLst/>
          </a:prstGeom>
          <a:solidFill>
            <a:srgbClr val="454545"/>
          </a:solidFill>
          <a:ln/>
        </p:spPr>
      </p:sp>
      <p:sp>
        <p:nvSpPr>
          <p:cNvPr id="91" name="Shape 89"/>
          <p:cNvSpPr/>
          <p:nvPr/>
        </p:nvSpPr>
        <p:spPr>
          <a:xfrm>
            <a:off x="11082528" y="2596896"/>
            <a:ext cx="237744" cy="237744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92" name="Shape 90"/>
          <p:cNvSpPr/>
          <p:nvPr/>
        </p:nvSpPr>
        <p:spPr>
          <a:xfrm>
            <a:off x="8778240" y="2852928"/>
            <a:ext cx="237744" cy="23774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93" name="Shape 91"/>
          <p:cNvSpPr/>
          <p:nvPr/>
        </p:nvSpPr>
        <p:spPr>
          <a:xfrm>
            <a:off x="9034272" y="2852928"/>
            <a:ext cx="237744" cy="237744"/>
          </a:xfrm>
          <a:prstGeom prst="rect">
            <a:avLst/>
          </a:prstGeom>
          <a:solidFill>
            <a:srgbClr val="676767"/>
          </a:solidFill>
          <a:ln/>
        </p:spPr>
      </p:sp>
      <p:sp>
        <p:nvSpPr>
          <p:cNvPr id="94" name="Shape 92"/>
          <p:cNvSpPr/>
          <p:nvPr/>
        </p:nvSpPr>
        <p:spPr>
          <a:xfrm>
            <a:off x="9290304" y="2852928"/>
            <a:ext cx="237744" cy="237744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95" name="Shape 93"/>
          <p:cNvSpPr/>
          <p:nvPr/>
        </p:nvSpPr>
        <p:spPr>
          <a:xfrm>
            <a:off x="9546336" y="2852928"/>
            <a:ext cx="237744" cy="237744"/>
          </a:xfrm>
          <a:prstGeom prst="rect">
            <a:avLst/>
          </a:prstGeom>
          <a:solidFill>
            <a:srgbClr val="4E4E4E"/>
          </a:solidFill>
          <a:ln/>
        </p:spPr>
      </p:sp>
      <p:sp>
        <p:nvSpPr>
          <p:cNvPr id="96" name="Shape 94"/>
          <p:cNvSpPr/>
          <p:nvPr/>
        </p:nvSpPr>
        <p:spPr>
          <a:xfrm>
            <a:off x="9802368" y="2852928"/>
            <a:ext cx="237744" cy="237744"/>
          </a:xfrm>
          <a:prstGeom prst="rect">
            <a:avLst/>
          </a:prstGeom>
          <a:solidFill>
            <a:srgbClr val="464646"/>
          </a:solidFill>
          <a:ln/>
        </p:spPr>
      </p:sp>
      <p:sp>
        <p:nvSpPr>
          <p:cNvPr id="97" name="Shape 95"/>
          <p:cNvSpPr/>
          <p:nvPr/>
        </p:nvSpPr>
        <p:spPr>
          <a:xfrm>
            <a:off x="10058400" y="2852928"/>
            <a:ext cx="237744" cy="23774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98" name="Shape 96"/>
          <p:cNvSpPr/>
          <p:nvPr/>
        </p:nvSpPr>
        <p:spPr>
          <a:xfrm>
            <a:off x="10314432" y="2852928"/>
            <a:ext cx="237744" cy="237744"/>
          </a:xfrm>
          <a:prstGeom prst="rect">
            <a:avLst/>
          </a:prstGeom>
          <a:solidFill>
            <a:srgbClr val="676767"/>
          </a:solidFill>
          <a:ln/>
        </p:spPr>
      </p:sp>
      <p:sp>
        <p:nvSpPr>
          <p:cNvPr id="99" name="Shape 97"/>
          <p:cNvSpPr/>
          <p:nvPr/>
        </p:nvSpPr>
        <p:spPr>
          <a:xfrm>
            <a:off x="10570464" y="2852928"/>
            <a:ext cx="237744" cy="237744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826496" y="2852928"/>
            <a:ext cx="237744" cy="237744"/>
          </a:xfrm>
          <a:prstGeom prst="rect">
            <a:avLst/>
          </a:prstGeom>
          <a:solidFill>
            <a:srgbClr val="4C4C4C"/>
          </a:solidFill>
          <a:ln/>
        </p:spPr>
      </p:sp>
      <p:sp>
        <p:nvSpPr>
          <p:cNvPr id="101" name="Shape 99"/>
          <p:cNvSpPr/>
          <p:nvPr/>
        </p:nvSpPr>
        <p:spPr>
          <a:xfrm>
            <a:off x="11082528" y="2852928"/>
            <a:ext cx="237744" cy="237744"/>
          </a:xfrm>
          <a:prstGeom prst="rect">
            <a:avLst/>
          </a:prstGeom>
          <a:solidFill>
            <a:srgbClr val="313131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314432" y="1572768"/>
            <a:ext cx="237744" cy="2377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3" name="Text 101"/>
          <p:cNvSpPr/>
          <p:nvPr/>
        </p:nvSpPr>
        <p:spPr>
          <a:xfrm>
            <a:off x="640080" y="23317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GRAYSCALE IMAGE REPRESENTATION</a:t>
            </a:r>
            <a:endParaRPr lang="en-US" sz="4000" dirty="0"/>
          </a:p>
        </p:txBody>
      </p:sp>
      <p:sp>
        <p:nvSpPr>
          <p:cNvPr id="104" name="Text 102"/>
          <p:cNvSpPr/>
          <p:nvPr/>
        </p:nvSpPr>
        <p:spPr>
          <a:xfrm>
            <a:off x="64008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Limitations, Analytical Examples, and Tooling</a:t>
            </a:r>
            <a:endParaRPr lang="en-US" sz="18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A7279E3-857F-3644-018E-3BC40970379A}"/>
              </a:ext>
            </a:extLst>
          </p:cNvPr>
          <p:cNvSpPr txBox="1"/>
          <p:nvPr/>
        </p:nvSpPr>
        <p:spPr>
          <a:xfrm>
            <a:off x="7023337" y="3958419"/>
            <a:ext cx="460260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                                            </a:t>
            </a:r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Presented by: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                                                                 VARSHA.S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                                                           (192511358)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918F9DA-38DE-A172-AA9D-FF14DA202A44}"/>
              </a:ext>
            </a:extLst>
          </p:cNvPr>
          <p:cNvSpPr txBox="1"/>
          <p:nvPr/>
        </p:nvSpPr>
        <p:spPr>
          <a:xfrm>
            <a:off x="223937" y="5803642"/>
            <a:ext cx="42267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GUIDED BY:</a:t>
            </a:r>
          </a:p>
          <a:p>
            <a:r>
              <a:rPr lang="en-IN" dirty="0">
                <a:solidFill>
                  <a:schemeClr val="bg1"/>
                </a:solidFill>
              </a:rPr>
              <a:t>                    </a:t>
            </a:r>
            <a:r>
              <a:rPr lang="en-IN" dirty="0" err="1">
                <a:solidFill>
                  <a:schemeClr val="bg1"/>
                </a:solidFill>
              </a:rPr>
              <a:t>Dr.T.M.USHA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Grayscale Image Representation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grayscale image encodes each pixel as a single </a:t>
            </a:r>
            <a:r>
              <a:rPr lang="en-US" sz="14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value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separate red, green, and blue channels.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414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depth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71576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range of 0 (black) to 255 (white), giving 256 discrete shades.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101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form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58444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a 2D array — one scalar per pixel instead of a 3-channel tensor.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788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RGB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445312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computed from color source images using a weighted formula.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146304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1E1E1E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0" y="178308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6" name="Image 0" descr="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564" y="1906524"/>
            <a:ext cx="301752" cy="30175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60920" y="18288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 Intensity Matrix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812280" y="2606040"/>
            <a:ext cx="786384" cy="630936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26060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653528" y="2606040"/>
            <a:ext cx="786384" cy="630936"/>
          </a:xfrm>
          <a:prstGeom prst="rect">
            <a:avLst/>
          </a:prstGeom>
          <a:solidFill>
            <a:srgbClr val="4C4C4C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53528" y="26060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494776" y="2606040"/>
            <a:ext cx="786384" cy="630936"/>
          </a:xfrm>
          <a:prstGeom prst="rect">
            <a:avLst/>
          </a:prstGeom>
          <a:solidFill>
            <a:srgbClr val="797979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94776" y="26060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336024" y="2606040"/>
            <a:ext cx="786384" cy="630936"/>
          </a:xfrm>
          <a:prstGeom prst="rect">
            <a:avLst/>
          </a:prstGeom>
          <a:solidFill>
            <a:srgbClr val="9E9E9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36024" y="26060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0177272" y="2606040"/>
            <a:ext cx="786384" cy="630936"/>
          </a:xfrm>
          <a:prstGeom prst="rect">
            <a:avLst/>
          </a:prstGeom>
          <a:solidFill>
            <a:srgbClr val="C9C9C9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177272" y="26060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812280" y="3291840"/>
            <a:ext cx="786384" cy="630936"/>
          </a:xfrm>
          <a:prstGeom prst="rect">
            <a:avLst/>
          </a:prstGeom>
          <a:solidFill>
            <a:srgbClr val="2D2D2D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12280" y="32918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653528" y="3291840"/>
            <a:ext cx="786384" cy="630936"/>
          </a:xfrm>
          <a:prstGeom prst="rect">
            <a:avLst/>
          </a:prstGeom>
          <a:solidFill>
            <a:srgbClr val="595959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53528" y="32918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494776" y="3291840"/>
            <a:ext cx="786384" cy="630936"/>
          </a:xfrm>
          <a:prstGeom prst="rect">
            <a:avLst/>
          </a:prstGeom>
          <a:solidFill>
            <a:srgbClr val="858585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94776" y="32918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336024" y="3291840"/>
            <a:ext cx="786384" cy="630936"/>
          </a:xfrm>
          <a:prstGeom prst="rect">
            <a:avLst/>
          </a:prstGeom>
          <a:solidFill>
            <a:srgbClr val="AAAAA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336024" y="32918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0177272" y="3291840"/>
            <a:ext cx="786384" cy="630936"/>
          </a:xfrm>
          <a:prstGeom prst="rect">
            <a:avLst/>
          </a:prstGeom>
          <a:solidFill>
            <a:srgbClr val="D2D2D2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177272" y="32918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812280" y="3977640"/>
            <a:ext cx="786384" cy="630936"/>
          </a:xfrm>
          <a:prstGeom prst="rect">
            <a:avLst/>
          </a:prstGeom>
          <a:solidFill>
            <a:srgbClr val="3C3C3C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12280" y="39776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653528" y="3977640"/>
            <a:ext cx="786384" cy="630936"/>
          </a:xfrm>
          <a:prstGeom prst="rect">
            <a:avLst/>
          </a:prstGeom>
          <a:solidFill>
            <a:srgbClr val="66666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653528" y="39776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494776" y="3977640"/>
            <a:ext cx="786384" cy="630936"/>
          </a:xfrm>
          <a:prstGeom prst="rect">
            <a:avLst/>
          </a:prstGeom>
          <a:solidFill>
            <a:srgbClr val="919191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494776" y="39776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9336024" y="3977640"/>
            <a:ext cx="786384" cy="630936"/>
          </a:xfrm>
          <a:prstGeom prst="rect">
            <a:avLst/>
          </a:prstGeom>
          <a:solidFill>
            <a:srgbClr val="B6B6B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336024" y="39776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177272" y="3977640"/>
            <a:ext cx="786384" cy="630936"/>
          </a:xfrm>
          <a:prstGeom prst="rect">
            <a:avLst/>
          </a:prstGeom>
          <a:solidFill>
            <a:srgbClr val="DEDED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177272" y="39776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812280" y="4663440"/>
            <a:ext cx="786384" cy="630936"/>
          </a:xfrm>
          <a:prstGeom prst="rect">
            <a:avLst/>
          </a:prstGeom>
          <a:solidFill>
            <a:srgbClr val="4848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812280" y="46634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653528" y="4663440"/>
            <a:ext cx="786384" cy="630936"/>
          </a:xfrm>
          <a:prstGeom prst="rect">
            <a:avLst/>
          </a:prstGeom>
          <a:solidFill>
            <a:srgbClr val="76767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653528" y="46634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8494776" y="4663440"/>
            <a:ext cx="786384" cy="630936"/>
          </a:xfrm>
          <a:prstGeom prst="rect">
            <a:avLst/>
          </a:prstGeom>
          <a:solidFill>
            <a:srgbClr val="9C9C9C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494776" y="46634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9336024" y="4663440"/>
            <a:ext cx="786384" cy="630936"/>
          </a:xfrm>
          <a:prstGeom prst="rect">
            <a:avLst/>
          </a:prstGeom>
          <a:solidFill>
            <a:srgbClr val="C3C3C3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336024" y="46634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10177272" y="4663440"/>
            <a:ext cx="786384" cy="630936"/>
          </a:xfrm>
          <a:prstGeom prst="rect">
            <a:avLst/>
          </a:prstGeom>
          <a:solidFill>
            <a:srgbClr val="E6E6E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177272" y="4663440"/>
            <a:ext cx="78638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6675120" y="5577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= one pixel's brightness (0–255). No hue or saturation data is retained.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IMAGE REPRESENTATION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RGB Is Converted to Grayscale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50292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 + G + B) / 3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ignores human perception — greens appear too dark, blues too bright.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600200"/>
            <a:ext cx="361188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6002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Luminosity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2860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0.21R + 0.72G + 0.07B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926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by perceptual sensitivity; the industry-standard default (ITU-R BT.601/709).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600200"/>
            <a:ext cx="3611880" cy="50292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6002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Desaturation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22860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(max(R,G,B) + min(R,G,B)) / 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2926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midpoint method; used in quick previews, less accurate tonal mapping.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Accuracy of Each Method (illustrative)</a:t>
            </a:r>
            <a:endParaRPr lang="en-US" sz="12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48640" y="4526280"/>
          <a:ext cx="1106424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IMAGE REPRESENTATION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of Chromatic Information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77240" cy="7772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7945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45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that differ only in hue can map to the </a:t>
            </a: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intensity value</a:t>
            </a: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phenomenon called metamerism.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E6394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5661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783080" y="2606040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/>
        </p:spPr>
      </p:sp>
      <p:sp>
        <p:nvSpPr>
          <p:cNvPr id="10" name="Text 7"/>
          <p:cNvSpPr/>
          <p:nvPr/>
        </p:nvSpPr>
        <p:spPr>
          <a:xfrm>
            <a:off x="1783080" y="35661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017520" y="28346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83280" y="2606040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8A8A8A"/>
          </a:solidFill>
          <a:ln/>
        </p:spPr>
      </p:sp>
      <p:sp>
        <p:nvSpPr>
          <p:cNvPr id="13" name="Shape 10"/>
          <p:cNvSpPr/>
          <p:nvPr/>
        </p:nvSpPr>
        <p:spPr>
          <a:xfrm>
            <a:off x="4617720" y="2606040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8A8A8A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gray values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bites in practice: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535424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4256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charts, wiring diagrams, and status indicators become unreadable.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038344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9286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 vs. unripe produce or heat-map overlays lose their distinguishing signal.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541264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4315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Traffic-light-style UI states (red/green) collapse into the same tone.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55080" y="146304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2B2B2B"/>
          </a:solidFill>
          <a:ln/>
        </p:spPr>
      </p:sp>
      <p:sp>
        <p:nvSpPr>
          <p:cNvPr id="23" name="Text 20"/>
          <p:cNvSpPr/>
          <p:nvPr/>
        </p:nvSpPr>
        <p:spPr>
          <a:xfrm>
            <a:off x="6675120" y="17373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Intensity Overlap of Distinct Hues</a:t>
            </a:r>
            <a:endParaRPr lang="en-US" sz="14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6629400" y="2240280"/>
          <a:ext cx="47091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Text 21"/>
          <p:cNvSpPr/>
          <p:nvPr/>
        </p:nvSpPr>
        <p:spPr>
          <a:xfrm>
            <a:off x="6675120" y="48920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visually distinct source colors cluster around the same grayscale bin (~110), confirming the ambiguity.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IMAGE REPRESENTATION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Feature Discriminability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Machine-vision and analysis pipelines that depend on color cues lose accuracy once channels are collapsed into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640080" cy="640080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7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" y="275005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&amp; Anomaly Detection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RGB features (e.g. skin-lesion or produce-defect classifiers) show measurable accuracy drops when restricted to grayscale input.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22860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606040"/>
            <a:ext cx="640080" cy="640080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12" name="Image 1" descr="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458" y="275005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4290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&amp; Diagnostic Imaging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17720" y="40690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tissue contrast conveyed through color-enhanced modalities (e.g. fluorescence overlays) is unrecoverable once flattened to intensity.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22860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2606040"/>
            <a:ext cx="640080" cy="640080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17" name="Image 2" descr="icons/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2218" y="275005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4290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Boundaries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12480" y="40690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and region-growing algorithms lose a discriminating dimension; adjacent regions of similar luminance merge incorrectly.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a downstream task historically leaned on hue or saturation, benchmark it against grayscale input before deploying.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IMAGE REPRESENTATION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Bit-Depth, Banding &amp; Dynamic-Range Limits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 bits per pixel, only </a:t>
            </a: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tonal steps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available. In high-dynamic-range scenes or after aggressive contrast stretching, adjacent steps become visible as banding rather than a smooth gradient.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57400" y="3218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shades at 8-bit depth — fewer than the eye can resolve in low light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~33%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57400" y="39959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file-size reduction vs. RGB, traded against loss of a full data channel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channel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57400" y="47731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for noise reduction, vs. 3 in color — grain is harder to suppress without smearing detail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146304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7373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 Gradient vs. Banded Gradient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331720"/>
            <a:ext cx="86106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752082" y="2331720"/>
            <a:ext cx="86106" cy="822960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15" name="Shape 13"/>
          <p:cNvSpPr/>
          <p:nvPr/>
        </p:nvSpPr>
        <p:spPr>
          <a:xfrm>
            <a:off x="6829044" y="2331720"/>
            <a:ext cx="86106" cy="822960"/>
          </a:xfrm>
          <a:prstGeom prst="rect">
            <a:avLst/>
          </a:prstGeom>
          <a:solidFill>
            <a:srgbClr val="090909"/>
          </a:solidFill>
          <a:ln/>
        </p:spPr>
      </p:sp>
      <p:sp>
        <p:nvSpPr>
          <p:cNvPr id="16" name="Shape 14"/>
          <p:cNvSpPr/>
          <p:nvPr/>
        </p:nvSpPr>
        <p:spPr>
          <a:xfrm>
            <a:off x="6906006" y="2331720"/>
            <a:ext cx="86106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7" name="Shape 15"/>
          <p:cNvSpPr/>
          <p:nvPr/>
        </p:nvSpPr>
        <p:spPr>
          <a:xfrm>
            <a:off x="6982968" y="2331720"/>
            <a:ext cx="86106" cy="8229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Shape 16"/>
          <p:cNvSpPr/>
          <p:nvPr/>
        </p:nvSpPr>
        <p:spPr>
          <a:xfrm>
            <a:off x="7059930" y="2331720"/>
            <a:ext cx="86106" cy="82296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6892" y="2331720"/>
            <a:ext cx="86106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13854" y="2331720"/>
            <a:ext cx="86106" cy="8229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0816" y="2331720"/>
            <a:ext cx="86106" cy="82296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22" name="Shape 20"/>
          <p:cNvSpPr/>
          <p:nvPr/>
        </p:nvSpPr>
        <p:spPr>
          <a:xfrm>
            <a:off x="7367778" y="2331720"/>
            <a:ext cx="86106" cy="822960"/>
          </a:xfrm>
          <a:prstGeom prst="rect">
            <a:avLst/>
          </a:prstGeom>
          <a:solidFill>
            <a:srgbClr val="272727"/>
          </a:solidFill>
          <a:ln/>
        </p:spPr>
      </p:sp>
      <p:sp>
        <p:nvSpPr>
          <p:cNvPr id="23" name="Shape 21"/>
          <p:cNvSpPr/>
          <p:nvPr/>
        </p:nvSpPr>
        <p:spPr>
          <a:xfrm>
            <a:off x="7444740" y="2331720"/>
            <a:ext cx="86106" cy="82296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24" name="Shape 22"/>
          <p:cNvSpPr/>
          <p:nvPr/>
        </p:nvSpPr>
        <p:spPr>
          <a:xfrm>
            <a:off x="7521702" y="2331720"/>
            <a:ext cx="86106" cy="822960"/>
          </a:xfrm>
          <a:prstGeom prst="rect">
            <a:avLst/>
          </a:prstGeom>
          <a:solidFill>
            <a:srgbClr val="303030"/>
          </a:solidFill>
          <a:ln/>
        </p:spPr>
      </p:sp>
      <p:sp>
        <p:nvSpPr>
          <p:cNvPr id="25" name="Shape 23"/>
          <p:cNvSpPr/>
          <p:nvPr/>
        </p:nvSpPr>
        <p:spPr>
          <a:xfrm>
            <a:off x="7598664" y="2331720"/>
            <a:ext cx="86106" cy="822960"/>
          </a:xfrm>
          <a:prstGeom prst="rect">
            <a:avLst/>
          </a:prstGeom>
          <a:solidFill>
            <a:srgbClr val="343434"/>
          </a:solidFill>
          <a:ln/>
        </p:spPr>
      </p:sp>
      <p:sp>
        <p:nvSpPr>
          <p:cNvPr id="26" name="Shape 24"/>
          <p:cNvSpPr/>
          <p:nvPr/>
        </p:nvSpPr>
        <p:spPr>
          <a:xfrm>
            <a:off x="7675626" y="2331720"/>
            <a:ext cx="86106" cy="82296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52588" y="2331720"/>
            <a:ext cx="86106" cy="82296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8" name="Shape 26"/>
          <p:cNvSpPr/>
          <p:nvPr/>
        </p:nvSpPr>
        <p:spPr>
          <a:xfrm>
            <a:off x="7829550" y="2331720"/>
            <a:ext cx="86106" cy="822960"/>
          </a:xfrm>
          <a:prstGeom prst="rect">
            <a:avLst/>
          </a:prstGeom>
          <a:solidFill>
            <a:srgbClr val="414141"/>
          </a:solidFill>
          <a:ln/>
        </p:spPr>
      </p:sp>
      <p:sp>
        <p:nvSpPr>
          <p:cNvPr id="29" name="Shape 27"/>
          <p:cNvSpPr/>
          <p:nvPr/>
        </p:nvSpPr>
        <p:spPr>
          <a:xfrm>
            <a:off x="7906512" y="2331720"/>
            <a:ext cx="86106" cy="822960"/>
          </a:xfrm>
          <a:prstGeom prst="rect">
            <a:avLst/>
          </a:prstGeom>
          <a:solidFill>
            <a:srgbClr val="454545"/>
          </a:solidFill>
          <a:ln/>
        </p:spPr>
      </p:sp>
      <p:sp>
        <p:nvSpPr>
          <p:cNvPr id="30" name="Shape 28"/>
          <p:cNvSpPr/>
          <p:nvPr/>
        </p:nvSpPr>
        <p:spPr>
          <a:xfrm>
            <a:off x="7983474" y="2331720"/>
            <a:ext cx="86106" cy="822960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31" name="Shape 29"/>
          <p:cNvSpPr/>
          <p:nvPr/>
        </p:nvSpPr>
        <p:spPr>
          <a:xfrm>
            <a:off x="8060436" y="2331720"/>
            <a:ext cx="86106" cy="822960"/>
          </a:xfrm>
          <a:prstGeom prst="rect">
            <a:avLst/>
          </a:prstGeom>
          <a:solidFill>
            <a:srgbClr val="4E4E4E"/>
          </a:solidFill>
          <a:ln/>
        </p:spPr>
      </p:sp>
      <p:sp>
        <p:nvSpPr>
          <p:cNvPr id="32" name="Shape 30"/>
          <p:cNvSpPr/>
          <p:nvPr/>
        </p:nvSpPr>
        <p:spPr>
          <a:xfrm>
            <a:off x="8137398" y="2331720"/>
            <a:ext cx="86106" cy="822960"/>
          </a:xfrm>
          <a:prstGeom prst="rect">
            <a:avLst/>
          </a:prstGeom>
          <a:solidFill>
            <a:srgbClr val="525252"/>
          </a:solidFill>
          <a:ln/>
        </p:spPr>
      </p:sp>
      <p:sp>
        <p:nvSpPr>
          <p:cNvPr id="33" name="Shape 31"/>
          <p:cNvSpPr/>
          <p:nvPr/>
        </p:nvSpPr>
        <p:spPr>
          <a:xfrm>
            <a:off x="8214360" y="2331720"/>
            <a:ext cx="86106" cy="822960"/>
          </a:xfrm>
          <a:prstGeom prst="rect">
            <a:avLst/>
          </a:prstGeom>
          <a:solidFill>
            <a:srgbClr val="565656"/>
          </a:solidFill>
          <a:ln/>
        </p:spPr>
      </p:sp>
      <p:sp>
        <p:nvSpPr>
          <p:cNvPr id="34" name="Shape 32"/>
          <p:cNvSpPr/>
          <p:nvPr/>
        </p:nvSpPr>
        <p:spPr>
          <a:xfrm>
            <a:off x="8291322" y="2331720"/>
            <a:ext cx="86106" cy="822960"/>
          </a:xfrm>
          <a:prstGeom prst="rect">
            <a:avLst/>
          </a:prstGeom>
          <a:solidFill>
            <a:srgbClr val="5B5B5B"/>
          </a:solidFill>
          <a:ln/>
        </p:spPr>
      </p:sp>
      <p:sp>
        <p:nvSpPr>
          <p:cNvPr id="35" name="Shape 33"/>
          <p:cNvSpPr/>
          <p:nvPr/>
        </p:nvSpPr>
        <p:spPr>
          <a:xfrm>
            <a:off x="8368284" y="2331720"/>
            <a:ext cx="86106" cy="822960"/>
          </a:xfrm>
          <a:prstGeom prst="rect">
            <a:avLst/>
          </a:prstGeom>
          <a:solidFill>
            <a:srgbClr val="5F5F5F"/>
          </a:solidFill>
          <a:ln/>
        </p:spPr>
      </p:sp>
      <p:sp>
        <p:nvSpPr>
          <p:cNvPr id="36" name="Shape 34"/>
          <p:cNvSpPr/>
          <p:nvPr/>
        </p:nvSpPr>
        <p:spPr>
          <a:xfrm>
            <a:off x="8445246" y="2331720"/>
            <a:ext cx="86106" cy="822960"/>
          </a:xfrm>
          <a:prstGeom prst="rect">
            <a:avLst/>
          </a:prstGeom>
          <a:solidFill>
            <a:srgbClr val="636363"/>
          </a:solidFill>
          <a:ln/>
        </p:spPr>
      </p:sp>
      <p:sp>
        <p:nvSpPr>
          <p:cNvPr id="37" name="Shape 35"/>
          <p:cNvSpPr/>
          <p:nvPr/>
        </p:nvSpPr>
        <p:spPr>
          <a:xfrm>
            <a:off x="8522208" y="2331720"/>
            <a:ext cx="86106" cy="822960"/>
          </a:xfrm>
          <a:prstGeom prst="rect">
            <a:avLst/>
          </a:prstGeom>
          <a:solidFill>
            <a:srgbClr val="686868"/>
          </a:solidFill>
          <a:ln/>
        </p:spPr>
      </p:sp>
      <p:sp>
        <p:nvSpPr>
          <p:cNvPr id="38" name="Shape 36"/>
          <p:cNvSpPr/>
          <p:nvPr/>
        </p:nvSpPr>
        <p:spPr>
          <a:xfrm>
            <a:off x="8599170" y="2331720"/>
            <a:ext cx="86106" cy="822960"/>
          </a:xfrm>
          <a:prstGeom prst="rect">
            <a:avLst/>
          </a:prstGeom>
          <a:solidFill>
            <a:srgbClr val="6C6C6C"/>
          </a:solidFill>
          <a:ln/>
        </p:spPr>
      </p:sp>
      <p:sp>
        <p:nvSpPr>
          <p:cNvPr id="39" name="Shape 37"/>
          <p:cNvSpPr/>
          <p:nvPr/>
        </p:nvSpPr>
        <p:spPr>
          <a:xfrm>
            <a:off x="8676132" y="2331720"/>
            <a:ext cx="86106" cy="822960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40" name="Shape 38"/>
          <p:cNvSpPr/>
          <p:nvPr/>
        </p:nvSpPr>
        <p:spPr>
          <a:xfrm>
            <a:off x="8753094" y="2331720"/>
            <a:ext cx="86106" cy="82296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41" name="Shape 39"/>
          <p:cNvSpPr/>
          <p:nvPr/>
        </p:nvSpPr>
        <p:spPr>
          <a:xfrm>
            <a:off x="8830056" y="2331720"/>
            <a:ext cx="86106" cy="822960"/>
          </a:xfrm>
          <a:prstGeom prst="rect">
            <a:avLst/>
          </a:prstGeom>
          <a:solidFill>
            <a:srgbClr val="797979"/>
          </a:solidFill>
          <a:ln/>
        </p:spPr>
      </p:sp>
      <p:sp>
        <p:nvSpPr>
          <p:cNvPr id="42" name="Shape 40"/>
          <p:cNvSpPr/>
          <p:nvPr/>
        </p:nvSpPr>
        <p:spPr>
          <a:xfrm>
            <a:off x="8907018" y="2331720"/>
            <a:ext cx="86106" cy="822960"/>
          </a:xfrm>
          <a:prstGeom prst="rect">
            <a:avLst/>
          </a:prstGeom>
          <a:solidFill>
            <a:srgbClr val="7D7D7D"/>
          </a:solidFill>
          <a:ln/>
        </p:spPr>
      </p:sp>
      <p:sp>
        <p:nvSpPr>
          <p:cNvPr id="43" name="Shape 41"/>
          <p:cNvSpPr/>
          <p:nvPr/>
        </p:nvSpPr>
        <p:spPr>
          <a:xfrm>
            <a:off x="8983980" y="2331720"/>
            <a:ext cx="86106" cy="822960"/>
          </a:xfrm>
          <a:prstGeom prst="rect">
            <a:avLst/>
          </a:prstGeom>
          <a:solidFill>
            <a:srgbClr val="828282"/>
          </a:solidFill>
          <a:ln/>
        </p:spPr>
      </p:sp>
      <p:sp>
        <p:nvSpPr>
          <p:cNvPr id="44" name="Shape 42"/>
          <p:cNvSpPr/>
          <p:nvPr/>
        </p:nvSpPr>
        <p:spPr>
          <a:xfrm>
            <a:off x="9060942" y="2331720"/>
            <a:ext cx="86106" cy="822960"/>
          </a:xfrm>
          <a:prstGeom prst="rect">
            <a:avLst/>
          </a:prstGeom>
          <a:solidFill>
            <a:srgbClr val="868686"/>
          </a:solidFill>
          <a:ln/>
        </p:spPr>
      </p:sp>
      <p:sp>
        <p:nvSpPr>
          <p:cNvPr id="45" name="Shape 43"/>
          <p:cNvSpPr/>
          <p:nvPr/>
        </p:nvSpPr>
        <p:spPr>
          <a:xfrm>
            <a:off x="9137904" y="2331720"/>
            <a:ext cx="86106" cy="82296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46" name="Shape 44"/>
          <p:cNvSpPr/>
          <p:nvPr/>
        </p:nvSpPr>
        <p:spPr>
          <a:xfrm>
            <a:off x="9214866" y="2331720"/>
            <a:ext cx="86106" cy="822960"/>
          </a:xfrm>
          <a:prstGeom prst="rect">
            <a:avLst/>
          </a:prstGeom>
          <a:solidFill>
            <a:srgbClr val="8F8F8F"/>
          </a:solidFill>
          <a:ln/>
        </p:spPr>
      </p:sp>
      <p:sp>
        <p:nvSpPr>
          <p:cNvPr id="47" name="Shape 45"/>
          <p:cNvSpPr/>
          <p:nvPr/>
        </p:nvSpPr>
        <p:spPr>
          <a:xfrm>
            <a:off x="9291828" y="2331720"/>
            <a:ext cx="86106" cy="822960"/>
          </a:xfrm>
          <a:prstGeom prst="rect">
            <a:avLst/>
          </a:prstGeom>
          <a:solidFill>
            <a:srgbClr val="939393"/>
          </a:solidFill>
          <a:ln/>
        </p:spPr>
      </p:sp>
      <p:sp>
        <p:nvSpPr>
          <p:cNvPr id="48" name="Shape 46"/>
          <p:cNvSpPr/>
          <p:nvPr/>
        </p:nvSpPr>
        <p:spPr>
          <a:xfrm>
            <a:off x="9368790" y="2331720"/>
            <a:ext cx="86106" cy="822960"/>
          </a:xfrm>
          <a:prstGeom prst="rect">
            <a:avLst/>
          </a:prstGeom>
          <a:solidFill>
            <a:srgbClr val="979797"/>
          </a:solidFill>
          <a:ln/>
        </p:spPr>
      </p:sp>
      <p:sp>
        <p:nvSpPr>
          <p:cNvPr id="49" name="Shape 47"/>
          <p:cNvSpPr/>
          <p:nvPr/>
        </p:nvSpPr>
        <p:spPr>
          <a:xfrm>
            <a:off x="9445752" y="2331720"/>
            <a:ext cx="86106" cy="822960"/>
          </a:xfrm>
          <a:prstGeom prst="rect">
            <a:avLst/>
          </a:prstGeom>
          <a:solidFill>
            <a:srgbClr val="9C9C9C"/>
          </a:solidFill>
          <a:ln/>
        </p:spPr>
      </p:sp>
      <p:sp>
        <p:nvSpPr>
          <p:cNvPr id="50" name="Shape 48"/>
          <p:cNvSpPr/>
          <p:nvPr/>
        </p:nvSpPr>
        <p:spPr>
          <a:xfrm>
            <a:off x="9522714" y="2331720"/>
            <a:ext cx="86106" cy="822960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1" name="Shape 49"/>
          <p:cNvSpPr/>
          <p:nvPr/>
        </p:nvSpPr>
        <p:spPr>
          <a:xfrm>
            <a:off x="9599676" y="2331720"/>
            <a:ext cx="86106" cy="822960"/>
          </a:xfrm>
          <a:prstGeom prst="rect">
            <a:avLst/>
          </a:prstGeom>
          <a:solidFill>
            <a:srgbClr val="A4A4A4"/>
          </a:solidFill>
          <a:ln/>
        </p:spPr>
      </p:sp>
      <p:sp>
        <p:nvSpPr>
          <p:cNvPr id="52" name="Shape 50"/>
          <p:cNvSpPr/>
          <p:nvPr/>
        </p:nvSpPr>
        <p:spPr>
          <a:xfrm>
            <a:off x="9676638" y="2331720"/>
            <a:ext cx="86106" cy="822960"/>
          </a:xfrm>
          <a:prstGeom prst="rect">
            <a:avLst/>
          </a:prstGeom>
          <a:solidFill>
            <a:srgbClr val="A9A9A9"/>
          </a:solidFill>
          <a:ln/>
        </p:spPr>
      </p:sp>
      <p:sp>
        <p:nvSpPr>
          <p:cNvPr id="53" name="Shape 51"/>
          <p:cNvSpPr/>
          <p:nvPr/>
        </p:nvSpPr>
        <p:spPr>
          <a:xfrm>
            <a:off x="9753600" y="2331720"/>
            <a:ext cx="86106" cy="822960"/>
          </a:xfrm>
          <a:prstGeom prst="rect">
            <a:avLst/>
          </a:prstGeom>
          <a:solidFill>
            <a:srgbClr val="ADADAD"/>
          </a:solidFill>
          <a:ln/>
        </p:spPr>
      </p:sp>
      <p:sp>
        <p:nvSpPr>
          <p:cNvPr id="54" name="Shape 52"/>
          <p:cNvSpPr/>
          <p:nvPr/>
        </p:nvSpPr>
        <p:spPr>
          <a:xfrm>
            <a:off x="9830562" y="2331720"/>
            <a:ext cx="86106" cy="822960"/>
          </a:xfrm>
          <a:prstGeom prst="rect">
            <a:avLst/>
          </a:prstGeom>
          <a:solidFill>
            <a:srgbClr val="B1B1B1"/>
          </a:solidFill>
          <a:ln/>
        </p:spPr>
      </p:sp>
      <p:sp>
        <p:nvSpPr>
          <p:cNvPr id="55" name="Shape 53"/>
          <p:cNvSpPr/>
          <p:nvPr/>
        </p:nvSpPr>
        <p:spPr>
          <a:xfrm>
            <a:off x="9907524" y="2331720"/>
            <a:ext cx="86106" cy="822960"/>
          </a:xfrm>
          <a:prstGeom prst="rect">
            <a:avLst/>
          </a:prstGeom>
          <a:solidFill>
            <a:srgbClr val="B6B6B6"/>
          </a:solidFill>
          <a:ln/>
        </p:spPr>
      </p:sp>
      <p:sp>
        <p:nvSpPr>
          <p:cNvPr id="56" name="Shape 54"/>
          <p:cNvSpPr/>
          <p:nvPr/>
        </p:nvSpPr>
        <p:spPr>
          <a:xfrm>
            <a:off x="9984486" y="2331720"/>
            <a:ext cx="86106" cy="822960"/>
          </a:xfrm>
          <a:prstGeom prst="rect">
            <a:avLst/>
          </a:prstGeom>
          <a:solidFill>
            <a:srgbClr val="BABABA"/>
          </a:solidFill>
          <a:ln/>
        </p:spPr>
      </p:sp>
      <p:sp>
        <p:nvSpPr>
          <p:cNvPr id="57" name="Shape 55"/>
          <p:cNvSpPr/>
          <p:nvPr/>
        </p:nvSpPr>
        <p:spPr>
          <a:xfrm>
            <a:off x="10061448" y="2331720"/>
            <a:ext cx="86106" cy="822960"/>
          </a:xfrm>
          <a:prstGeom prst="rect">
            <a:avLst/>
          </a:prstGeom>
          <a:solidFill>
            <a:srgbClr val="BEBEBE"/>
          </a:solidFill>
          <a:ln/>
        </p:spPr>
      </p:sp>
      <p:sp>
        <p:nvSpPr>
          <p:cNvPr id="58" name="Shape 56"/>
          <p:cNvSpPr/>
          <p:nvPr/>
        </p:nvSpPr>
        <p:spPr>
          <a:xfrm>
            <a:off x="10138410" y="2331720"/>
            <a:ext cx="86106" cy="822960"/>
          </a:xfrm>
          <a:prstGeom prst="rect">
            <a:avLst/>
          </a:prstGeom>
          <a:solidFill>
            <a:srgbClr val="C2C2C2"/>
          </a:solidFill>
          <a:ln/>
        </p:spPr>
      </p:sp>
      <p:sp>
        <p:nvSpPr>
          <p:cNvPr id="59" name="Shape 57"/>
          <p:cNvSpPr/>
          <p:nvPr/>
        </p:nvSpPr>
        <p:spPr>
          <a:xfrm>
            <a:off x="10215372" y="2331720"/>
            <a:ext cx="86106" cy="822960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60" name="Shape 58"/>
          <p:cNvSpPr/>
          <p:nvPr/>
        </p:nvSpPr>
        <p:spPr>
          <a:xfrm>
            <a:off x="10292334" y="2331720"/>
            <a:ext cx="86106" cy="822960"/>
          </a:xfrm>
          <a:prstGeom prst="rect">
            <a:avLst/>
          </a:prstGeom>
          <a:solidFill>
            <a:srgbClr val="CBCBCB"/>
          </a:solidFill>
          <a:ln/>
        </p:spPr>
      </p:sp>
      <p:sp>
        <p:nvSpPr>
          <p:cNvPr id="61" name="Shape 59"/>
          <p:cNvSpPr/>
          <p:nvPr/>
        </p:nvSpPr>
        <p:spPr>
          <a:xfrm>
            <a:off x="10369296" y="2331720"/>
            <a:ext cx="86106" cy="822960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62" name="Shape 60"/>
          <p:cNvSpPr/>
          <p:nvPr/>
        </p:nvSpPr>
        <p:spPr>
          <a:xfrm>
            <a:off x="10446258" y="2331720"/>
            <a:ext cx="86106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63" name="Shape 61"/>
          <p:cNvSpPr/>
          <p:nvPr/>
        </p:nvSpPr>
        <p:spPr>
          <a:xfrm>
            <a:off x="10523220" y="2331720"/>
            <a:ext cx="86106" cy="822960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64" name="Shape 62"/>
          <p:cNvSpPr/>
          <p:nvPr/>
        </p:nvSpPr>
        <p:spPr>
          <a:xfrm>
            <a:off x="10600182" y="2331720"/>
            <a:ext cx="86106" cy="82296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65" name="Shape 63"/>
          <p:cNvSpPr/>
          <p:nvPr/>
        </p:nvSpPr>
        <p:spPr>
          <a:xfrm>
            <a:off x="10677144" y="2331720"/>
            <a:ext cx="86106" cy="82296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6" name="Shape 64"/>
          <p:cNvSpPr/>
          <p:nvPr/>
        </p:nvSpPr>
        <p:spPr>
          <a:xfrm>
            <a:off x="10754106" y="2331720"/>
            <a:ext cx="86106" cy="8229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7" name="Shape 65"/>
          <p:cNvSpPr/>
          <p:nvPr/>
        </p:nvSpPr>
        <p:spPr>
          <a:xfrm>
            <a:off x="10831068" y="2331720"/>
            <a:ext cx="86106" cy="822960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68" name="Shape 66"/>
          <p:cNvSpPr/>
          <p:nvPr/>
        </p:nvSpPr>
        <p:spPr>
          <a:xfrm>
            <a:off x="10908030" y="2331720"/>
            <a:ext cx="86106" cy="82296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Shape 67"/>
          <p:cNvSpPr/>
          <p:nvPr/>
        </p:nvSpPr>
        <p:spPr>
          <a:xfrm>
            <a:off x="10984992" y="2331720"/>
            <a:ext cx="86106" cy="822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0" name="Shape 68"/>
          <p:cNvSpPr/>
          <p:nvPr/>
        </p:nvSpPr>
        <p:spPr>
          <a:xfrm>
            <a:off x="11061954" y="2331720"/>
            <a:ext cx="86106" cy="82296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71" name="Shape 69"/>
          <p:cNvSpPr/>
          <p:nvPr/>
        </p:nvSpPr>
        <p:spPr>
          <a:xfrm>
            <a:off x="11138916" y="2331720"/>
            <a:ext cx="86106" cy="822960"/>
          </a:xfrm>
          <a:prstGeom prst="rect">
            <a:avLst/>
          </a:prstGeom>
          <a:solidFill>
            <a:srgbClr val="FBFBFB"/>
          </a:solidFill>
          <a:ln/>
        </p:spPr>
      </p:sp>
      <p:sp>
        <p:nvSpPr>
          <p:cNvPr id="72" name="Shape 70"/>
          <p:cNvSpPr/>
          <p:nvPr/>
        </p:nvSpPr>
        <p:spPr>
          <a:xfrm>
            <a:off x="11215878" y="2331720"/>
            <a:ext cx="86106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6675120" y="32461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steps (near-continuous)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675120" y="3657600"/>
            <a:ext cx="586359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5" name="Shape 73"/>
          <p:cNvSpPr/>
          <p:nvPr/>
        </p:nvSpPr>
        <p:spPr>
          <a:xfrm>
            <a:off x="7252335" y="3657600"/>
            <a:ext cx="586359" cy="822960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76" name="Shape 74"/>
          <p:cNvSpPr/>
          <p:nvPr/>
        </p:nvSpPr>
        <p:spPr>
          <a:xfrm>
            <a:off x="7829550" y="3657600"/>
            <a:ext cx="586359" cy="822960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77" name="Shape 75"/>
          <p:cNvSpPr/>
          <p:nvPr/>
        </p:nvSpPr>
        <p:spPr>
          <a:xfrm>
            <a:off x="8406765" y="3657600"/>
            <a:ext cx="586359" cy="822960"/>
          </a:xfrm>
          <a:prstGeom prst="rect">
            <a:avLst/>
          </a:prstGeom>
          <a:solidFill>
            <a:srgbClr val="6D6D6D"/>
          </a:solidFill>
          <a:ln/>
        </p:spPr>
      </p:sp>
      <p:sp>
        <p:nvSpPr>
          <p:cNvPr id="78" name="Shape 76"/>
          <p:cNvSpPr/>
          <p:nvPr/>
        </p:nvSpPr>
        <p:spPr>
          <a:xfrm>
            <a:off x="8983980" y="3657600"/>
            <a:ext cx="586359" cy="822960"/>
          </a:xfrm>
          <a:prstGeom prst="rect">
            <a:avLst/>
          </a:prstGeom>
          <a:solidFill>
            <a:srgbClr val="929292"/>
          </a:solidFill>
          <a:ln/>
        </p:spPr>
      </p:sp>
      <p:sp>
        <p:nvSpPr>
          <p:cNvPr id="79" name="Shape 77"/>
          <p:cNvSpPr/>
          <p:nvPr/>
        </p:nvSpPr>
        <p:spPr>
          <a:xfrm>
            <a:off x="9561195" y="3657600"/>
            <a:ext cx="586359" cy="822960"/>
          </a:xfrm>
          <a:prstGeom prst="rect">
            <a:avLst/>
          </a:prstGeom>
          <a:solidFill>
            <a:srgbClr val="B6B6B6"/>
          </a:solidFill>
          <a:ln/>
        </p:spPr>
      </p:sp>
      <p:sp>
        <p:nvSpPr>
          <p:cNvPr id="80" name="Shape 78"/>
          <p:cNvSpPr/>
          <p:nvPr/>
        </p:nvSpPr>
        <p:spPr>
          <a:xfrm>
            <a:off x="10138410" y="3657600"/>
            <a:ext cx="586359" cy="822960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81" name="Shape 79"/>
          <p:cNvSpPr/>
          <p:nvPr/>
        </p:nvSpPr>
        <p:spPr>
          <a:xfrm>
            <a:off x="10715625" y="3657600"/>
            <a:ext cx="586359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6675120" y="457200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steps (visible banding after stretch)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675120" y="498348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 worsens when a narrow-range grayscale image is contrast-stretched — the same limitation that motivates 16-bit workflows in scientific and medical imaging.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IMAGE REPRESENTATION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for Inspecting Grayscale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56232"/>
            <a:ext cx="621792" cy="621792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OpenCV / Pillow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21488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cv2.cvtColor(), Image.convert('L'); histogram + edge-detection diagnostics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971800"/>
            <a:ext cx="621792" cy="621792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1" name="Image 1" descr="icons/bar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1272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169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Image Processing Toolbox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508760" y="326440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rgb2gray(), imhist(); side-by-side channel comparison plots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922776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4087368"/>
            <a:ext cx="621792" cy="621792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6" name="Image 2" descr="icons/sli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4281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325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GIMP / Photoshop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508760" y="437997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Desaturate, Channel Mixer; manual visual QA of conversion methods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5038344"/>
            <a:ext cx="5486400" cy="96012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/>
        </p:spPr>
      </p:sp>
      <p:sp>
        <p:nvSpPr>
          <p:cNvPr id="20" name="Shape 15"/>
          <p:cNvSpPr/>
          <p:nvPr/>
        </p:nvSpPr>
        <p:spPr>
          <a:xfrm>
            <a:off x="713232" y="5202936"/>
            <a:ext cx="621792" cy="621792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1" name="Image 3" descr="icons/to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35838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1480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scikit-image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508760" y="549554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color.rgb2gray(), exposure module; scriptable batch benchmarking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0" y="169164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2B2B2B"/>
          </a:solidFill>
          <a:ln/>
        </p:spPr>
      </p:sp>
      <p:sp>
        <p:nvSpPr>
          <p:cNvPr id="25" name="Text 19"/>
          <p:cNvSpPr/>
          <p:nvPr/>
        </p:nvSpPr>
        <p:spPr>
          <a:xfrm>
            <a:off x="67208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Diagnostic Pipeline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720840" y="256032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1"/>
          <p:cNvSpPr/>
          <p:nvPr/>
        </p:nvSpPr>
        <p:spPr>
          <a:xfrm>
            <a:off x="672084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269480" y="25420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source RGB image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912864" y="2944368"/>
            <a:ext cx="0" cy="32004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</a:ln>
        </p:spPr>
      </p:sp>
      <p:sp>
        <p:nvSpPr>
          <p:cNvPr id="30" name="Shape 24"/>
          <p:cNvSpPr/>
          <p:nvPr/>
        </p:nvSpPr>
        <p:spPr>
          <a:xfrm>
            <a:off x="6720840" y="3282696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1" name="Text 25"/>
          <p:cNvSpPr/>
          <p:nvPr/>
        </p:nvSpPr>
        <p:spPr>
          <a:xfrm>
            <a:off x="6720840" y="3282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269480" y="326440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using luminosity method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912864" y="3666744"/>
            <a:ext cx="0" cy="32004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</a:ln>
        </p:spPr>
      </p:sp>
      <p:sp>
        <p:nvSpPr>
          <p:cNvPr id="34" name="Shape 28"/>
          <p:cNvSpPr/>
          <p:nvPr/>
        </p:nvSpPr>
        <p:spPr>
          <a:xfrm>
            <a:off x="6720840" y="4005072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5" name="Text 29"/>
          <p:cNvSpPr/>
          <p:nvPr/>
        </p:nvSpPr>
        <p:spPr>
          <a:xfrm>
            <a:off x="6720840" y="4005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7269480" y="398678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intensity histogram &amp; compare to RGB channel histograms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912864" y="4389120"/>
            <a:ext cx="0" cy="32004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</a:ln>
        </p:spPr>
      </p:sp>
      <p:sp>
        <p:nvSpPr>
          <p:cNvPr id="38" name="Shape 32"/>
          <p:cNvSpPr/>
          <p:nvPr/>
        </p:nvSpPr>
        <p:spPr>
          <a:xfrm>
            <a:off x="6720840" y="4727448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9" name="Text 33"/>
          <p:cNvSpPr/>
          <p:nvPr/>
        </p:nvSpPr>
        <p:spPr>
          <a:xfrm>
            <a:off x="6720840" y="4727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7269480" y="47091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downstream task (detection / segmentation) on both versions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912864" y="5111496"/>
            <a:ext cx="0" cy="32004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</a:ln>
        </p:spPr>
      </p:sp>
      <p:sp>
        <p:nvSpPr>
          <p:cNvPr id="42" name="Shape 36"/>
          <p:cNvSpPr/>
          <p:nvPr/>
        </p:nvSpPr>
        <p:spPr>
          <a:xfrm>
            <a:off x="6720840" y="5449824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3" name="Text 37"/>
          <p:cNvSpPr/>
          <p:nvPr/>
        </p:nvSpPr>
        <p:spPr>
          <a:xfrm>
            <a:off x="6720840" y="5449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7269480" y="543153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accuracy delta before adopting grayscale in production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IMAGE REPRESENTATION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Detection Accuracy, RGB vs. Grayscale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benchmark: a standard object-classification model evaluated on identical scenes, once in full color and once converted via the luminosity method.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03120"/>
          <a:ext cx="64922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360920" y="2103120"/>
            <a:ext cx="4251960" cy="3977640"/>
          </a:xfrm>
          <a:prstGeom prst="roundRect">
            <a:avLst>
              <a:gd name="adj" fmla="val 1839"/>
            </a:avLst>
          </a:prstGeom>
          <a:solidFill>
            <a:srgbClr val="1E1E1E"/>
          </a:solidFill>
          <a:ln/>
        </p:spPr>
      </p:sp>
      <p:sp>
        <p:nvSpPr>
          <p:cNvPr id="7" name="Text 4"/>
          <p:cNvSpPr/>
          <p:nvPr/>
        </p:nvSpPr>
        <p:spPr>
          <a:xfrm>
            <a:off x="7635240" y="23774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Result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35240" y="3026664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2916936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Color-dependent tasks (ripeness, lesion type) show the steepest drop — 12–25 points.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35240" y="4032504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3922776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Shape-dominant tasks (traffic signs, general objects) degrade less, since edges survive conversion.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35240" y="5038344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4928616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grayscale is safe for structure-driven tasks, risky where color carries the label.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IMAGE REPRESENTATION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Grayscale Deliberately, Not by Default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2B2B2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icons/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1145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method to the task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luminosity weighting for anything perceptual; reserve averaging for quick, non-critical previews.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2B2B2B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6596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1" name="Image 1" descr="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21145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4767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before deploying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92240" y="26974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accuracy delta on your own detection or classification pipeline — don't assume it's negligible.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2B2B2B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6" name="Image 2" descr="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430911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14223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bit depth where it matters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68680" y="4892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16-bit grayscale for scientific, medical, or HDR-derived imagery to avoid banding.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72200" y="3886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2B2B2B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16052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1" name="Image 3" descr="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110" y="430911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14223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color where it's load-bearing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92240" y="4892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hue or saturation encodes the actual signal — ripeness, status, diagnosis — grayscale is the wrong tool.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remains a powerful, efficient representation — the goal is to apply it where its limitations don't cost you the signal you need.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IMAGE REPRESENTATION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974</Words>
  <Application>Microsoft Office PowerPoint</Application>
  <PresentationFormat>Widescreen</PresentationFormat>
  <Paragraphs>158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00012732555 Varsha</cp:lastModifiedBy>
  <cp:revision>2</cp:revision>
  <dcterms:created xsi:type="dcterms:W3CDTF">2026-08-05T04:54:55Z</dcterms:created>
  <dcterms:modified xsi:type="dcterms:W3CDTF">2026-08-05T05:01:20Z</dcterms:modified>
</cp:coreProperties>
</file>